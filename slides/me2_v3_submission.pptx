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0972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ME2 — Voice Controlled Smart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Always-on keyword + intent recognition at the edge · no cloud round-trip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96112"/>
            <a:ext cx="1143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PH" sz="1100" dirty="0">
                <a:solidFill>
                  <a:srgbClr val="555555"/>
                </a:solidFill>
                <a:latin typeface="Calibri"/>
              </a:rPr>
              <a:t>3</a:t>
            </a:r>
            <a:r>
              <a:rPr sz="1100" b="0" i="0" dirty="0">
                <a:solidFill>
                  <a:srgbClr val="555555"/>
                </a:solidFill>
                <a:latin typeface="Calibri"/>
              </a:rPr>
              <a:t> October 2026 · J</a:t>
            </a:r>
            <a:r>
              <a:rPr lang="en-PH" sz="1100" b="0" i="0" dirty="0">
                <a:solidFill>
                  <a:srgbClr val="555555"/>
                </a:solidFill>
                <a:latin typeface="Calibri"/>
              </a:rPr>
              <a:t>an Rhey</a:t>
            </a:r>
            <a:r>
              <a:rPr sz="1100" b="0" i="0" dirty="0">
                <a:solidFill>
                  <a:srgbClr val="555555"/>
                </a:solidFill>
                <a:latin typeface="Calibri"/>
              </a:rPr>
              <a:t> Lagana + AI231 ME2 · Model · Dataset · Training on A100 · Validation on RPi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88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481328"/>
            <a:ext cx="5532120" cy="310896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2E5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50" b="1">
                <a:solidFill>
                  <a:srgbClr val="2E5B9F"/>
                </a:solidFill>
              </a:rPr>
              <a:t>Mic  </a:t>
            </a:r>
            <a:r>
              <a:rPr sz="1050">
                <a:solidFill>
                  <a:srgbClr val="1A1A1A"/>
                </a:solidFill>
              </a:rPr>
              <a:t>16 kHz → log-mel 80 × 150  (3.0 s, 20 ms hop)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828800"/>
            <a:ext cx="5532120" cy="347472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3E8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50" b="1">
                <a:solidFill>
                  <a:srgbClr val="3E8E5B"/>
                </a:solidFill>
              </a:rPr>
              <a:t>Encoder  </a:t>
            </a:r>
            <a:r>
              <a:rPr sz="1050">
                <a:solidFill>
                  <a:srgbClr val="1A1A1A"/>
                </a:solidFill>
              </a:rPr>
              <a:t>BC-ResNet scale=2 · 30,134 params · fixed 3.0 s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231136"/>
            <a:ext cx="2724912" cy="292608"/>
          </a:xfrm>
          <a:prstGeom prst="roundRect">
            <a:avLst/>
          </a:prstGeom>
          <a:solidFill>
            <a:srgbClr val="FAF0DE"/>
          </a:solidFill>
          <a:ln w="19050">
            <a:solidFill>
              <a:srgbClr val="C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00" b="1" dirty="0">
                <a:solidFill>
                  <a:srgbClr val="C88A2E"/>
                </a:solidFill>
              </a:rPr>
              <a:t>Intent head  </a:t>
            </a:r>
            <a:r>
              <a:rPr sz="1000" dirty="0">
                <a:solidFill>
                  <a:srgbClr val="1A1A1A"/>
                </a:solidFill>
              </a:rPr>
              <a:t>20 classes  (19 intents + </a:t>
            </a:r>
            <a:r>
              <a:rPr sz="700" dirty="0">
                <a:solidFill>
                  <a:srgbClr val="1A1A1A"/>
                </a:solidFill>
              </a:rPr>
              <a:t>OUT</a:t>
            </a:r>
            <a:r>
              <a:rPr lang="en-PH" sz="700" dirty="0">
                <a:solidFill>
                  <a:srgbClr val="1A1A1A"/>
                </a:solidFill>
              </a:rPr>
              <a:t>_</a:t>
            </a:r>
            <a:r>
              <a:rPr sz="700" dirty="0">
                <a:solidFill>
                  <a:srgbClr val="1A1A1A"/>
                </a:solidFill>
              </a:rPr>
              <a:t>OF_SCOPE</a:t>
            </a:r>
            <a:r>
              <a:rPr sz="1000" dirty="0">
                <a:solidFill>
                  <a:srgbClr val="1A1A1A"/>
                </a:solidFill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91256" y="2231136"/>
            <a:ext cx="2724912" cy="292608"/>
          </a:xfrm>
          <a:prstGeom prst="roundRect">
            <a:avLst/>
          </a:prstGeom>
          <a:solidFill>
            <a:srgbClr val="FAF0DE"/>
          </a:solidFill>
          <a:ln w="19050">
            <a:solidFill>
              <a:srgbClr val="C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00" b="1">
                <a:solidFill>
                  <a:srgbClr val="C88A2E"/>
                </a:solidFill>
              </a:rPr>
              <a:t>Slot head  </a:t>
            </a:r>
            <a:r>
              <a:rPr sz="1000">
                <a:solidFill>
                  <a:srgbClr val="1A1A1A"/>
                </a:solidFill>
              </a:rPr>
              <a:t>6 heads × 18 values  (3 each)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0"/>
            <a:ext cx="2724912" cy="292608"/>
          </a:xfrm>
          <a:prstGeom prst="roundRect">
            <a:avLst/>
          </a:prstGeom>
          <a:solidFill>
            <a:srgbClr val="EFE9F6"/>
          </a:solidFill>
          <a:ln w="19050">
            <a:solidFill>
              <a:srgbClr val="7A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00" b="1">
                <a:solidFill>
                  <a:srgbClr val="7A5CA8"/>
                </a:solidFill>
              </a:rPr>
              <a:t>Actuator  </a:t>
            </a:r>
            <a:r>
              <a:rPr sz="1000">
                <a:solidFill>
                  <a:srgbClr val="1A1A1A"/>
                </a:solidFill>
              </a:rPr>
              <a:t>ONNX Runtime  (CPU)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91256" y="2560320"/>
            <a:ext cx="2724912" cy="292608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3E8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00" b="1">
                <a:solidFill>
                  <a:srgbClr val="3E8E5B"/>
                </a:solidFill>
              </a:rPr>
              <a:t>Raspberry Pi 4  </a:t>
            </a:r>
            <a:r>
              <a:rPr sz="1000">
                <a:solidFill>
                  <a:srgbClr val="1A1A1A"/>
                </a:solidFill>
              </a:rPr>
              <a:t>4B · 4 GB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2926080"/>
          <a:ext cx="5532120" cy="600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Parameters / weights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30,134 params · 172 KB ONNX (opset 17)  + wake ONNX, shared 80-mel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4048" y="3584448"/>
            <a:ext cx="5532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Validation on the Raspberry Pi 4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84048" y="3877056"/>
          <a:ext cx="55321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Command acc (holdout / test)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0.9455 / 0.9293  (holdout one-shot, 186 clips)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Slot acc (holdout / test)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0.9722 / 0.9748  (slotted clips)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OOS reject (holdout / test)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11/16 (0.688) / 34/76 (0.447)  · wake gate + 0.50 conf gate in front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Latency p95 / RTF (Pi 4B)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92 ms / RTF 0.030  (onnxruntime CPU, 172 KB ONNX)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55080" y="1188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Dataset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55080" y="1481328"/>
          <a:ext cx="5532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HF airimonda/ai231-me2-voice-commands (rev 6947f130) · master Gold Dataset, 10 sources (real + synthetic)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1A1A1A"/>
                          </a:solidFill>
                          <a:latin typeface="Calibri"/>
                        </a:rPr>
                        <a:t>Hours / </a:t>
                      </a:r>
                      <a:r>
                        <a:rPr sz="95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utts</a:t>
                      </a:r>
                      <a:endParaRPr sz="950" b="1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15,378 command clips (train 10,733 / test 4,443 / holdout 202); + 66,390-clip number-robustness bench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Speakers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speaker-disjoint splits · ∅ overlap verified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Labels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20 intents (19 + OUT_OF_SCOPE) · 18 slot values / 6 heads · 93 phrase variations (Option B)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55080" y="411480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Training on the A100 cluster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355080" y="4407408"/>
          <a:ext cx="5532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1× NVIDIA A100 · node n003 (COE HPC)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class-weighted CE (command, 20c) + 1.0·CE (slot, 6×3) — softmax classifier (no CTC/attn)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AdamW  lr 1e-3 · wd 1e-4 · cosine (eta_min 1e-5) over total steps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Steps / loss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336 steps/epoch × 200 = 67.2k steps · final loss 0.206 (cmd 0.179 + slot 0.026) · best-cmd epoch 142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84048" y="6455664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Architecture note: fixed-window BC-ResNet KWS (two ONNX: wake + command/slot, shared 80-mel) — not a streaming / KV-cache encoder. Amber = pending (post-training).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56032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To Be Submitted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859536"/>
            <a:ext cx="11430000" cy="45720"/>
          </a:xfrm>
          <a:prstGeom prst="rect">
            <a:avLst/>
          </a:prstGeom>
          <a:solidFill>
            <a:srgbClr val="7A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042415"/>
          <a:ext cx="114300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A5A1E"/>
                          </a:solidFill>
                          <a:latin typeface="Calibri"/>
                        </a:rPr>
                        <a:t>GitHub repository</a:t>
                      </a:r>
                    </a:p>
                  </a:txBody>
                  <a:tcPr marL="73152" marR="73152" marT="18288" marB="18288" anchor="ctr">
                    <a:solidFill>
                      <a:srgbClr val="E8C7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github.com/jblagana/ai231-me2-v3 — public, MIT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A5A1E"/>
                          </a:solidFill>
                          <a:latin typeface="Calibri"/>
                        </a:rPr>
                        <a:t>Dataset location</a:t>
                      </a:r>
                    </a:p>
                  </a:txBody>
                  <a:tcPr marL="73152" marR="73152" marT="18288" marB="18288" anchor="ctr">
                    <a:solidFill>
                      <a:srgbClr val="E8C7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HF airimonda/ai231-me2-voice-commands (Zenodo DOI) + Drive ai231-me2-gold-dataset · per-source licenses; Xela VCM DOI 10.48804/IEKKVZ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A5A1E"/>
                          </a:solidFill>
                          <a:latin typeface="Calibri"/>
                        </a:rPr>
                        <a:t>A100 cluster</a:t>
                      </a:r>
                    </a:p>
                  </a:txBody>
                  <a:tcPr marL="73152" marR="73152" marT="18288" marB="18288" anchor="ctr">
                    <a:solidFill>
                      <a:srgbClr val="E8C7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node n003 · 1× A100 · wall-clock ~47 min (200 epochs, 67.2k steps) · seed 20261002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A5A1E"/>
                          </a:solidFill>
                          <a:latin typeface="Calibri"/>
                        </a:rPr>
                        <a:t>Model weights</a:t>
                      </a:r>
                    </a:p>
                  </a:txBody>
                  <a:tcPr marL="73152" marR="73152" marT="18288" marB="18288" anchor="ctr">
                    <a:solidFill>
                      <a:srgbClr val="E8C7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me2_vcm_v3.onnx (172 KB, opset 17) · deployed live on Pi (~/me2) · MIT · released separately per repo .gitignore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4048" y="33101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What the reviewer will look for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144094"/>
              </p:ext>
            </p:extLst>
          </p:nvPr>
        </p:nvGraphicFramePr>
        <p:xfrm>
          <a:off x="384048" y="3639312"/>
          <a:ext cx="114300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Repo public, one-command reproduction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7A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Dataset licensed and citable (DOI)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7A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Training logs + final model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950" b="1" dirty="0">
                          <a:solidFill>
                            <a:srgbClr val="1F7A3D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Pi 4 latency reproduced by the posted script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1F7A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Held-out test set, unseen speakers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7A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Baseline of comparable size compared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1F7A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56032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Appendix — filling the pending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6868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Amber fields on slides 1–2 are filled post-training, in this order: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1.  tools/manifest_stats.py        →  dataset Hours / Speakers   (HPC, data/manifests/)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4650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2.  runs/v3r1/results.json         →  Steps / loss, Keyword + intent acc, False-accept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671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3.  Pi live benchmark (vcm-benchmark) →  Latency p95 / RTF / runtime threads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4.  tools/export_onnx.py --verify  →  ONNX + model-weights release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083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5.  edit slides_data.json, then:    python scripts/build_slides.py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6.  update SUBMISSION.md statuses   →  commit →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986784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Data &amp;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5254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Dataset: HF airimonda/ai231-me2-voice-commands (default config; per-source licenses; research + education)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1830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Multi-Sensor Voice Command (Xela Ubalde): CC BY 4.0, DOI 10.48804/IEKKVZ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840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Live harness: github.com/airimonda/vcm-benchmark        Code: github.com/jblagana/ai231-me2-v3 (MIT)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750</Words>
  <Application>Microsoft Office PowerPoint</Application>
  <PresentationFormat>Widescreen</PresentationFormat>
  <Paragraphs>91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 Rhey Lagana</cp:lastModifiedBy>
  <cp:revision>2</cp:revision>
  <dcterms:created xsi:type="dcterms:W3CDTF">2013-01-27T09:14:16Z</dcterms:created>
  <dcterms:modified xsi:type="dcterms:W3CDTF">2026-10-03T15:08:39Z</dcterms:modified>
  <cp:category/>
</cp:coreProperties>
</file>